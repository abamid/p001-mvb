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14.pn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Relationship Id="rId7" Type="http://schemas.openxmlformats.org/officeDocument/2006/relationships/image" Target="../media/image1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amid/P001-MVB" TargetMode="External"/><Relationship Id="rId3" Type="http://schemas.openxmlformats.org/officeDocument/2006/relationships/image" Target="../media/image11.png"/><Relationship Id="rId4" Type="http://schemas.openxmlformats.org/officeDocument/2006/relationships/hyperlink" Target="https://p001-mvb-iq6ziqmh6yr9tbdamggaqc.streamlit.app/" TargetMode="External"/><Relationship Id="rId5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1_ti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6143"/>
            <a:ext cx="12191695" cy="570571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85216" y="1920240"/>
            <a:ext cx="4096512" cy="310896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1883664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3D3A3A"/>
                </a:solidFill>
                <a:latin typeface="Raleway Light"/>
              </a:rPr>
              <a:t>Responsible AI Clinical Decision Support Prototype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2_proble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451" y="0"/>
            <a:ext cx="963879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3_solu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5114"/>
            <a:ext cx="12191695" cy="53277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4_work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29702"/>
            <a:ext cx="12191695" cy="49985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5_too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36" y="0"/>
            <a:ext cx="112242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6_lifecyc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4264" y="0"/>
            <a:ext cx="978316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7_resul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2164" y="0"/>
            <a:ext cx="642736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20040" y="777240"/>
            <a:ext cx="32004" cy="1874519"/>
          </a:xfrm>
          <a:prstGeom prst="rect">
            <a:avLst/>
          </a:prstGeom>
          <a:solidFill>
            <a:srgbClr val="1B1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19"/>
            <a:ext cx="2194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B1B27"/>
                </a:solidFill>
                <a:latin typeface="Raleway"/>
              </a:rPr>
              <a:t>Dataset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Raleway"/>
              </a:rPr>
              <a:t>Source: Kaggle – Meningitis Classification (ChanTest)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Raleway"/>
              </a:rPr>
              <a:t>Original records: 1,200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Raleway"/>
              </a:rPr>
              <a:t>Removed: 67 (“Unknown” diagnosis)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Raleway"/>
              </a:rPr>
              <a:t>Final records: 1,133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Raleway"/>
              </a:rPr>
              <a:t>Bacterial: 595  ·  Viral: 538</a:t>
            </a:r>
          </a:p>
        </p:txBody>
      </p:sp>
      <p:sp>
        <p:nvSpPr>
          <p:cNvPr id="5" name="Rectangle 4"/>
          <p:cNvSpPr/>
          <p:nvPr/>
        </p:nvSpPr>
        <p:spPr>
          <a:xfrm>
            <a:off x="9464040" y="777240"/>
            <a:ext cx="32004" cy="2423160"/>
          </a:xfrm>
          <a:prstGeom prst="rect">
            <a:avLst/>
          </a:prstGeom>
          <a:solidFill>
            <a:srgbClr val="1B1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46919" y="731519"/>
            <a:ext cx="2331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B1B27"/>
                </a:solidFill>
                <a:latin typeface="Raleway"/>
              </a:rPr>
              <a:t>Models Evaluated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Raleway"/>
              </a:rPr>
              <a:t>Logistic Regression – Full / Restricted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Raleway"/>
              </a:rPr>
              <a:t>Random Forest – Full / Restricted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Raleway"/>
              </a:rPr>
              <a:t>XGBoost – Full / Restricted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B1B27"/>
                </a:solidFill>
                <a:latin typeface="Raleway"/>
              </a:rPr>
              <a:t>Selected: Logistic Regression (Restricted) — best balance of bacterial recall, interpretability, transparency and Responsible AI deployment requirements.</a:t>
            </a:r>
          </a:p>
        </p:txBody>
      </p:sp>
      <p:pic>
        <p:nvPicPr>
          <p:cNvPr id="7" name="Picture 6" descr="model_comparison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63240"/>
            <a:ext cx="2468880" cy="281635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108960" y="905256"/>
            <a:ext cx="6080760" cy="1609344"/>
          </a:xfrm>
          <a:prstGeom prst="rect">
            <a:avLst/>
          </a:prstGeom>
          <a:solidFill>
            <a:srgbClr val="FB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reamlit_screenshot_hom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1548" y="987552"/>
            <a:ext cx="1298448" cy="1251813"/>
          </a:xfrm>
          <a:prstGeom prst="rect">
            <a:avLst/>
          </a:prstGeom>
        </p:spPr>
      </p:pic>
      <p:pic>
        <p:nvPicPr>
          <p:cNvPr id="10" name="Picture 9" descr="streamlit_screenshot_predictio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393" y="987552"/>
            <a:ext cx="1298448" cy="503834"/>
          </a:xfrm>
          <a:prstGeom prst="rect">
            <a:avLst/>
          </a:prstGeom>
        </p:spPr>
      </p:pic>
      <p:pic>
        <p:nvPicPr>
          <p:cNvPr id="11" name="Picture 10" descr="streamlit_screenshot_sha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9009" y="987552"/>
            <a:ext cx="1298448" cy="1417320"/>
          </a:xfrm>
          <a:prstGeom prst="rect">
            <a:avLst/>
          </a:prstGeom>
        </p:spPr>
      </p:pic>
      <p:pic>
        <p:nvPicPr>
          <p:cNvPr id="12" name="Picture 11" descr="streamlit_screenshot_pdv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6855" y="987552"/>
            <a:ext cx="1298448" cy="47823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8_pdv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389"/>
            <a:ext cx="12191695" cy="55472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572768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D3A3A"/>
                </a:solidFill>
                <a:latin typeface="Raleway"/>
              </a:rPr>
              <a:t>Many healthcare AI projects stop after producing an accurate prediction. P001-MVB goes further by integrating Responsible AI governance directly into the clinical decision-support workflow.</a:t>
            </a:r>
          </a:p>
        </p:txBody>
      </p:sp>
      <p:pic>
        <p:nvPicPr>
          <p:cNvPr id="4" name="Picture 3" descr="pdvc_code_card_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0712" y="3895344"/>
            <a:ext cx="3648456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9_conclu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469"/>
            <a:ext cx="12191695" cy="68090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10_thankyo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5070"/>
            <a:ext cx="12191695" cy="24078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2004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B1B27"/>
                </a:solidFill>
                <a:latin typeface="Raleway"/>
              </a:rPr>
              <a:t>Limitations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Raleway"/>
              </a:rPr>
              <a:t>Research prototype only — not intended for clinical use.  ·  Dataset is clinically inspired rather than clinically validated.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Raleway"/>
              </a:rPr>
              <a:t>No external validation has yet been performed.  ·  Future work includes validation using representative clinical datasets.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984248"/>
            <a:ext cx="10908792" cy="0"/>
          </a:xfrm>
          <a:prstGeom prst="line">
            <a:avLst/>
          </a:prstGeom>
          <a:ln w="9525">
            <a:solidFill>
              <a:srgbClr val="D8D6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>
                <a:solidFill>
                  <a:srgbClr val="1B1B27"/>
                </a:solidFill>
                <a:latin typeface="Raleway"/>
              </a:rPr>
              <a:t>Live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65660"/>
                </a:solidFill>
                <a:latin typeface="Raleway"/>
              </a:rPr>
              <a:t>GitHub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u="sng">
                <a:solidFill>
                  <a:srgbClr val="1B1B27"/>
                </a:solidFill>
                <a:latin typeface="Raleway"/>
                <a:hlinkClick r:id="rId2"/>
              </a:rPr>
              <a:t>https://github.com/Abamid/P001-MVB</a:t>
            </a:r>
          </a:p>
        </p:txBody>
      </p:sp>
      <p:pic>
        <p:nvPicPr>
          <p:cNvPr id="5" name="Picture 4" descr="qr_github_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2103120"/>
            <a:ext cx="3291840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600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65660"/>
                </a:solidFill>
                <a:latin typeface="Raleway"/>
              </a:rPr>
              <a:t>Live Streamlit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u="sng">
                <a:solidFill>
                  <a:srgbClr val="1B1B27"/>
                </a:solidFill>
                <a:latin typeface="Raleway"/>
                <a:hlinkClick r:id="rId4"/>
              </a:rPr>
              <a:t>https://p001-mvb-iq6ziqmh6yr9tbdamggaqc.streamlit.app/</a:t>
            </a:r>
          </a:p>
        </p:txBody>
      </p:sp>
      <p:pic>
        <p:nvPicPr>
          <p:cNvPr id="8" name="Picture 7" descr="qr_streamlit_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2103120"/>
            <a:ext cx="329184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B1B27"/>
                </a:solidFill>
                <a:latin typeface="Raleway"/>
              </a:rPr>
              <a:t>Scan the QR codes to explore the complete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