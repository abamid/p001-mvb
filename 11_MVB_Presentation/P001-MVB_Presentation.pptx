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amid/P001-MVB" TargetMode="External"/><Relationship Id="rId3" Type="http://schemas.openxmlformats.org/officeDocument/2006/relationships/image" Target="../media/image11.png"/><Relationship Id="rId4" Type="http://schemas.openxmlformats.org/officeDocument/2006/relationships/hyperlink" Target="https://p001-mvb-iq6ziqmh6yr9tbdamggaqc.streamlit.app/" TargetMode="External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143"/>
            <a:ext cx="12191695" cy="57057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" y="1920240"/>
            <a:ext cx="4096512" cy="310896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883664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3A3A"/>
                </a:solidFill>
                <a:latin typeface="Calibri"/>
              </a:rPr>
              <a:t>Responsible AI Clinical Decision Support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51" y="0"/>
            <a:ext cx="96387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_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114"/>
            <a:ext cx="12191695" cy="5327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702"/>
            <a:ext cx="12191695" cy="4998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5_too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36" y="0"/>
            <a:ext cx="112242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6_lifecy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64" y="0"/>
            <a:ext cx="978316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7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164" y="0"/>
            <a:ext cx="642736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777240"/>
            <a:ext cx="32004" cy="1874519"/>
          </a:xfrm>
          <a:prstGeom prst="rect">
            <a:avLst/>
          </a:prstGeom>
          <a:solidFill>
            <a:srgbClr val="1B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19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1B27"/>
                </a:solidFill>
                <a:latin typeface="Calibri"/>
              </a:rPr>
              <a:t>Dataset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Source: Kaggle – Meningitis Classification (ChanTest)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Original records: 1,200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Removed: 67 (“Unknown” diagnosis)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Final records: 1,133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Bacterial: 595  ·  Viral: 538</a:t>
            </a:r>
          </a:p>
        </p:txBody>
      </p:sp>
      <p:sp>
        <p:nvSpPr>
          <p:cNvPr id="5" name="Rectangle 4"/>
          <p:cNvSpPr/>
          <p:nvPr/>
        </p:nvSpPr>
        <p:spPr>
          <a:xfrm>
            <a:off x="9464040" y="777240"/>
            <a:ext cx="32004" cy="2423160"/>
          </a:xfrm>
          <a:prstGeom prst="rect">
            <a:avLst/>
          </a:prstGeom>
          <a:solidFill>
            <a:srgbClr val="1B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19" y="731519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1B27"/>
                </a:solidFill>
                <a:latin typeface="Calibri"/>
              </a:rPr>
              <a:t>Models Evaluated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Logistic Regression – Full / Restricted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Random Forest – Full / Restricted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XGBoost – Full / Restricted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B1B27"/>
                </a:solidFill>
                <a:latin typeface="Calibri"/>
              </a:rPr>
              <a:t>Selected: Logistic Regression (Restricted) — best balance of bacterial recall, interpretability, transparency and Responsible AI deployment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8_pdv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389"/>
            <a:ext cx="12191695" cy="55472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9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69"/>
            <a:ext cx="12191695" cy="68090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0_thank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070"/>
            <a:ext cx="12191695" cy="24078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B1B27"/>
                </a:solidFill>
                <a:latin typeface="Calibri"/>
              </a:rPr>
              <a:t>Limitations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Research prototype only — not intended for clinical use.  ·  Dataset is clinically inspired rather than clinically validated.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65660"/>
                </a:solidFill>
                <a:latin typeface="Calibri"/>
              </a:rPr>
              <a:t>No external validation has yet been performed.  ·  Future work includes validation using representative clinical datasets.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84248"/>
            <a:ext cx="10908792" cy="0"/>
          </a:xfrm>
          <a:prstGeom prst="line">
            <a:avLst/>
          </a:prstGeom>
          <a:ln w="9525">
            <a:solidFill>
              <a:srgbClr val="D8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1B1B27"/>
                </a:solidFill>
                <a:latin typeface="Calibri"/>
              </a:rPr>
              <a:t>Live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65660"/>
                </a:solidFill>
                <a:latin typeface="Calibri"/>
              </a:rP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sng">
                <a:solidFill>
                  <a:srgbClr val="1B1B27"/>
                </a:solidFill>
                <a:latin typeface="Calibri"/>
                <a:hlinkClick r:id="rId2"/>
              </a:rPr>
              <a:t>https://github.com/Abamid/P001-MVB</a:t>
            </a:r>
          </a:p>
        </p:txBody>
      </p:sp>
      <p:pic>
        <p:nvPicPr>
          <p:cNvPr id="5" name="Picture 4" descr="qr_github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103120"/>
            <a:ext cx="32918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65660"/>
                </a:solidFill>
                <a:latin typeface="Calibri"/>
              </a:rPr>
              <a:t>Live Streamlit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sng">
                <a:solidFill>
                  <a:srgbClr val="1B1B27"/>
                </a:solidFill>
                <a:latin typeface="Calibri"/>
                <a:hlinkClick r:id="rId4"/>
              </a:rPr>
              <a:t>https://p001-mvb-iq6ziqmh6yr9tbdamggaqc.streamlit.app/</a:t>
            </a:r>
          </a:p>
        </p:txBody>
      </p:sp>
      <p:pic>
        <p:nvPicPr>
          <p:cNvPr id="8" name="Picture 7" descr="qr_streamlit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103120"/>
            <a:ext cx="329184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B1B27"/>
                </a:solidFill>
                <a:latin typeface="Calibri"/>
              </a:rPr>
              <a:t>Scan the QR codes to explore the complete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