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bamid/P001-MVB" TargetMode="External"/><Relationship Id="rId3" Type="http://schemas.openxmlformats.org/officeDocument/2006/relationships/image" Target="../media/image17.png"/><Relationship Id="rId4" Type="http://schemas.openxmlformats.org/officeDocument/2006/relationships/hyperlink" Target="https://p001-mvb-iq6ziqmh6yr9tbdamggaqc.streamlit.app/" TargetMode="External"/><Relationship Id="rId5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1_ti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6143"/>
            <a:ext cx="12191695" cy="5705713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85216" y="1920240"/>
            <a:ext cx="4096512" cy="310896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" y="1883664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3D3A3A"/>
                </a:solidFill>
                <a:latin typeface="Raleway Light"/>
              </a:rPr>
              <a:t>Responsible AI Clinical Decision Support Prototype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2_proble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451" y="0"/>
            <a:ext cx="9638791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3_solu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65114"/>
            <a:ext cx="12191695" cy="53277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4_work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29702"/>
            <a:ext cx="12191695" cy="49985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5_too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36" y="0"/>
            <a:ext cx="112242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6_lifecyc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4264" y="0"/>
            <a:ext cx="978316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>
                <a:solidFill>
                  <a:srgbClr val="1B1B27"/>
                </a:solidFill>
                <a:latin typeface="Raleway"/>
              </a:rPr>
              <a:t>Model Development &amp;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65660"/>
                </a:solidFill>
                <a:latin typeface="Raleway"/>
              </a:rPr>
              <a:t>Final Selected Model: Logistic Regression (Restricted Feature Set)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32004" cy="1691640"/>
          </a:xfrm>
          <a:prstGeom prst="rect">
            <a:avLst/>
          </a:prstGeom>
          <a:solidFill>
            <a:srgbClr val="1B1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64592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B1B27"/>
                </a:solidFill>
                <a:latin typeface="Raleway"/>
              </a:rPr>
              <a:t>Dataset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565660"/>
                </a:solidFill>
                <a:latin typeface="Raleway"/>
              </a:rPr>
              <a:t>Source: Kaggle – Meningitis Classification (ChanTest)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565660"/>
                </a:solidFill>
                <a:latin typeface="Raleway"/>
              </a:rPr>
              <a:t>Original records: 1,200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565660"/>
                </a:solidFill>
                <a:latin typeface="Raleway"/>
              </a:rPr>
              <a:t>Removed: 67 (“Unknown” diagnosis)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565660"/>
                </a:solidFill>
                <a:latin typeface="Raleway"/>
              </a:rPr>
              <a:t>Final records: 1,133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565660"/>
                </a:solidFill>
                <a:latin typeface="Raleway"/>
              </a:rPr>
              <a:t>Bacterial: 595  ·  Viral: 538</a:t>
            </a:r>
          </a:p>
        </p:txBody>
      </p:sp>
      <p:pic>
        <p:nvPicPr>
          <p:cNvPr id="6" name="Picture 5" descr="model_comparison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6689" y="3520440"/>
            <a:ext cx="2687420" cy="30632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0" y="1691640"/>
            <a:ext cx="32004" cy="3931920"/>
          </a:xfrm>
          <a:prstGeom prst="rect">
            <a:avLst/>
          </a:prstGeom>
          <a:solidFill>
            <a:srgbClr val="1B1B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64592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B1B27"/>
                </a:solidFill>
                <a:latin typeface="Raleway"/>
              </a:rPr>
              <a:t>Models Evaluated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65660"/>
                </a:solidFill>
                <a:latin typeface="Raleway"/>
              </a:rPr>
              <a:t>Logistic Regression — Full / Restricted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65660"/>
                </a:solidFill>
                <a:latin typeface="Raleway"/>
              </a:rPr>
              <a:t>Random Forest — Full / Restricted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565660"/>
                </a:solidFill>
                <a:latin typeface="Raleway"/>
              </a:rPr>
              <a:t>XGBoost — Full / Restricted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B1B27"/>
                </a:solidFill>
                <a:latin typeface="Raleway"/>
              </a:rPr>
              <a:t>Selected: Logistic Regression (Restricted)</a:t>
            </a:r>
          </a:p>
          <a:p>
            <a:pPr>
              <a:spcAft>
                <a:spcPts val="400"/>
              </a:spcAft>
            </a:pPr>
            <a:r>
              <a:rPr sz="1350" b="0">
                <a:solidFill>
                  <a:srgbClr val="565660"/>
                </a:solidFill>
                <a:latin typeface="Raleway"/>
              </a:rPr>
              <a:t>Best balance of bacterial recall, interpretability, transparency and Responsible AI deployment requirements.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>
                <a:solidFill>
                  <a:srgbClr val="1B1B27"/>
                </a:solidFill>
                <a:latin typeface="Raleway"/>
              </a:rPr>
              <a:t>Live Application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565660"/>
                </a:solidFill>
                <a:latin typeface="Raleway"/>
              </a:rPr>
              <a:t>Final Selected Model: Logistic Regression (Restricted Feature Set)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1B1B27"/>
                </a:solidFill>
                <a:latin typeface="Raleway"/>
              </a:rPr>
              <a:t>Streamlit Home</a:t>
            </a:r>
          </a:p>
        </p:txBody>
      </p:sp>
      <p:pic>
        <p:nvPicPr>
          <p:cNvPr id="5" name="Picture 4" descr="streamlit_screenshot_h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48840"/>
            <a:ext cx="2560320" cy="24689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383279" y="16916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1B1B27"/>
                </a:solidFill>
                <a:latin typeface="Raleway"/>
              </a:rPr>
              <a:t>Prediction Result</a:t>
            </a:r>
          </a:p>
        </p:txBody>
      </p:sp>
      <p:pic>
        <p:nvPicPr>
          <p:cNvPr id="7" name="Picture 6" descr="streamlit_screenshot_predic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79" y="2148840"/>
            <a:ext cx="2560320" cy="9931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19" y="16916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1B1B27"/>
                </a:solidFill>
                <a:latin typeface="Raleway"/>
              </a:rPr>
              <a:t>SHAP Waterfall</a:t>
            </a:r>
          </a:p>
        </p:txBody>
      </p:sp>
      <p:pic>
        <p:nvPicPr>
          <p:cNvPr id="9" name="Picture 8" descr="streamlit_screenshot_sha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19" y="2148840"/>
            <a:ext cx="2560320" cy="279510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52559" y="16916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1B1B27"/>
                </a:solidFill>
                <a:latin typeface="Raleway"/>
              </a:rPr>
              <a:t>PDVC Verification</a:t>
            </a:r>
          </a:p>
        </p:txBody>
      </p:sp>
      <p:pic>
        <p:nvPicPr>
          <p:cNvPr id="11" name="Picture 10" descr="streamlit_screenshot_pdv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59" y="2148840"/>
            <a:ext cx="2560320" cy="94233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>
                <a:solidFill>
                  <a:srgbClr val="1B1B27"/>
                </a:solidFill>
                <a:latin typeface="Raleway"/>
              </a:rPr>
              <a:t>Results &amp; Responsible AI Outcomes</a:t>
            </a:r>
          </a:p>
        </p:txBody>
      </p:sp>
      <p:pic>
        <p:nvPicPr>
          <p:cNvPr id="3" name="Picture 2" descr="slide_09_results_outcom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7247" y="1371600"/>
            <a:ext cx="953720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8_pdv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5389"/>
            <a:ext cx="12191695" cy="55472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1572768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D3A3A"/>
                </a:solidFill>
                <a:latin typeface="Raleway"/>
              </a:rPr>
              <a:t>Many healthcare AI projects stop after producing an accurate prediction. P001-MVB goes further by integrating Responsible AI governance directly into the clinical decision-support workflow.</a:t>
            </a:r>
          </a:p>
        </p:txBody>
      </p:sp>
      <p:pic>
        <p:nvPicPr>
          <p:cNvPr id="4" name="Picture 3" descr="pdvc_code_card_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0712" y="3895344"/>
            <a:ext cx="3648456" cy="1325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09_conclu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469"/>
            <a:ext cx="12191695" cy="680906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_10_thankyo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5070"/>
            <a:ext cx="12191695" cy="240785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32004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B1B27"/>
                </a:solidFill>
                <a:latin typeface="Raleway"/>
              </a:rPr>
              <a:t>Limitations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65660"/>
                </a:solidFill>
                <a:latin typeface="Raleway"/>
              </a:rPr>
              <a:t>Research prototype only — not intended for clinical use.  ·  Dataset is clinically inspired rather than clinically validated.</a:t>
            </a:r>
          </a:p>
          <a:p>
            <a:pPr>
              <a:spcAft>
                <a:spcPts val="400"/>
              </a:spcAft>
            </a:pPr>
            <a:r>
              <a:rPr sz="1050" b="0">
                <a:solidFill>
                  <a:srgbClr val="565660"/>
                </a:solidFill>
                <a:latin typeface="Raleway"/>
              </a:rPr>
              <a:t>No external validation has yet been performed.  ·  Future work includes validation using representative clinical datasets.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40080" y="1984248"/>
            <a:ext cx="10908792" cy="0"/>
          </a:xfrm>
          <a:prstGeom prst="line">
            <a:avLst/>
          </a:prstGeom>
          <a:ln w="9525">
            <a:solidFill>
              <a:srgbClr val="D8D6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>
                <a:solidFill>
                  <a:srgbClr val="1B1B27"/>
                </a:solidFill>
                <a:latin typeface="Raleway"/>
              </a:rPr>
              <a:t>Live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002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65660"/>
                </a:solidFill>
                <a:latin typeface="Raleway"/>
              </a:rPr>
              <a:t>GitHub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u="sng">
                <a:solidFill>
                  <a:srgbClr val="1B1B27"/>
                </a:solidFill>
                <a:latin typeface="Raleway"/>
                <a:hlinkClick r:id="rId2"/>
              </a:rPr>
              <a:t>https://github.com/Abamid/P001-MVB</a:t>
            </a:r>
          </a:p>
        </p:txBody>
      </p:sp>
      <p:pic>
        <p:nvPicPr>
          <p:cNvPr id="5" name="Picture 4" descr="qr_github_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2103120"/>
            <a:ext cx="3291840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6002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65660"/>
                </a:solidFill>
                <a:latin typeface="Raleway"/>
              </a:rPr>
              <a:t>Live Streamlit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9202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u="sng">
                <a:solidFill>
                  <a:srgbClr val="1B1B27"/>
                </a:solidFill>
                <a:latin typeface="Raleway"/>
                <a:hlinkClick r:id="rId4"/>
              </a:rPr>
              <a:t>https://p001-mvb-iq6ziqmh6yr9tbdamggaqc.streamlit.app/</a:t>
            </a:r>
          </a:p>
        </p:txBody>
      </p:sp>
      <p:pic>
        <p:nvPicPr>
          <p:cNvPr id="8" name="Picture 7" descr="qr_streamlit_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2103120"/>
            <a:ext cx="3291840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1B1B27"/>
                </a:solidFill>
                <a:latin typeface="Raleway"/>
              </a:rPr>
              <a:t>Scan the QR codes to explore the complete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